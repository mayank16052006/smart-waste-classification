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548640"/>
            <a:ext cx="1371600" cy="1371600"/>
          </a:xfrm>
          <a:prstGeom prst="ellipse">
            <a:avLst/>
          </a:prstGeom>
          <a:solidFill>
            <a:srgbClr val="DD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1463040"/>
            <a:ext cx="731520" cy="731520"/>
          </a:xfrm>
          <a:prstGeom prst="ellipse">
            <a:avLst/>
          </a:prstGeom>
          <a:solidFill>
            <a:srgbClr val="C3E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1828800"/>
            <a:ext cx="502920" cy="502920"/>
          </a:xfrm>
          <a:prstGeom prst="ellipse">
            <a:avLst/>
          </a:prstGeom>
          <a:solidFill>
            <a:srgbClr val="D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81381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66942"/>
                </a:solidFill>
                <a:latin typeface="Aptos"/>
              </a:rP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896112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400" b="1">
                <a:solidFill>
                  <a:srgbClr val="1C2722"/>
                </a:solidFill>
                <a:latin typeface="Aptos"/>
              </a:rPr>
              <a:t>SMART WASTE
CLASSIFICATION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7955279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>
                <a:solidFill>
                  <a:srgbClr val="677A6F"/>
                </a:solidFill>
                <a:latin typeface="Aptos"/>
              </a:rPr>
              <a:t>An AI-Based Image Classification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C2722"/>
                </a:solidFill>
                <a:latin typeface="Aptos"/>
              </a:rPr>
              <a:t>Presented by: Mayank Chaudhuri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47488"/>
            <a:ext cx="7772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677A6F"/>
                </a:solidFill>
                <a:latin typeface="Aptos"/>
              </a:rPr>
              <a:t>B.Tech | Computer Science and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7772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677A6F"/>
                </a:solidFill>
                <a:latin typeface="Aptos"/>
              </a:rPr>
              <a:t>[College Name]  •  [Project Guide]  •  [Academic Year]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4160520"/>
            <a:ext cx="21031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5400" b="1">
                <a:solidFill>
                  <a:srgbClr val="166942"/>
                </a:solidFill>
                <a:latin typeface="Aptos"/>
              </a:rPr>
              <a:t>♻️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6942"/>
                </a:solidFill>
                <a:latin typeface="Aptos"/>
              </a:rPr>
              <a:t>Introduction &amp;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DD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77A6F"/>
                </a:solidFill>
                <a:latin typeface="Apto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257800" cy="1874519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380744"/>
            <a:ext cx="492861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56232"/>
            <a:ext cx="4928616" cy="11247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Incorrect waste segregation can contaminate recyclable materials and make recycling and waste processing more difficult.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257800" cy="1874519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1380744"/>
            <a:ext cx="492861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OUR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1856232"/>
            <a:ext cx="4928616" cy="11247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Use an AI image classifier to identify a broad waste category and provide a simple disposal recommendation.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10607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900" b="1">
                <a:solidFill>
                  <a:srgbClr val="1C2722"/>
                </a:solidFill>
                <a:latin typeface="Aptos"/>
              </a:rPr>
              <a:t>The prototype classifies uploaded images into four categories: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97680"/>
            <a:ext cx="2606040" cy="132588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4443984"/>
            <a:ext cx="227685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Plastic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4919472"/>
            <a:ext cx="2276856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Bottles, wrappers, containers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4297680"/>
            <a:ext cx="2606040" cy="132588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4443984"/>
            <a:ext cx="227685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Paper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4919472"/>
            <a:ext cx="2276856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Paper and cardboard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297680"/>
            <a:ext cx="2606040" cy="132588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443984"/>
            <a:ext cx="227685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Metal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4919472"/>
            <a:ext cx="2276856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Cans and metal objects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4297680"/>
            <a:ext cx="2606040" cy="132588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91472" y="4443984"/>
            <a:ext cx="227685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DE9137"/>
                </a:solidFill>
                <a:latin typeface="Aptos"/>
              </a:rPr>
              <a:t>Organic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1472" y="4919472"/>
            <a:ext cx="2276856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Food scraps and dry leaves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6942"/>
                </a:solidFill>
                <a:latin typeface="Aptos"/>
              </a:rPr>
              <a:t>Objectives and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DD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77A6F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5577840" cy="448056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1C2722"/>
                </a:solidFill>
                <a:latin typeface="Aptos"/>
              </a:defRPr>
            </a:pPr>
            <a:r>
              <a:t>•  Build a four-class waste image classifier.</a:t>
            </a:r>
          </a:p>
          <a:p>
            <a:pPr>
              <a:spcAft>
                <a:spcPts val="1800"/>
              </a:spcAft>
              <a:defRPr sz="1900">
                <a:solidFill>
                  <a:srgbClr val="1C2722"/>
                </a:solidFill>
                <a:latin typeface="Aptos"/>
              </a:defRPr>
            </a:pPr>
            <a:r>
              <a:t>•  Use transfer learning to adapt a pretrained CNN.</a:t>
            </a:r>
          </a:p>
          <a:p>
            <a:pPr>
              <a:spcAft>
                <a:spcPts val="1800"/>
              </a:spcAft>
              <a:defRPr sz="1900">
                <a:solidFill>
                  <a:srgbClr val="1C2722"/>
                </a:solidFill>
                <a:latin typeface="Aptos"/>
              </a:defRPr>
            </a:pPr>
            <a:r>
              <a:t>•  Create a simple web interface for image upload.</a:t>
            </a:r>
          </a:p>
          <a:p>
            <a:pPr>
              <a:spcAft>
                <a:spcPts val="1800"/>
              </a:spcAft>
              <a:defRPr sz="1900">
                <a:solidFill>
                  <a:srgbClr val="1C2722"/>
                </a:solidFill>
                <a:latin typeface="Aptos"/>
              </a:defRPr>
            </a:pPr>
            <a:r>
              <a:t>•  Display the predicted category and confidence score.</a:t>
            </a:r>
          </a:p>
          <a:p>
            <a:pPr>
              <a:spcAft>
                <a:spcPts val="1800"/>
              </a:spcAft>
              <a:defRPr sz="1900">
                <a:solidFill>
                  <a:srgbClr val="1C2722"/>
                </a:solidFill>
                <a:latin typeface="Aptos"/>
              </a:defRPr>
            </a:pPr>
            <a:r>
              <a:t>•  Provide basic category-specific disposal guidance.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417320"/>
            <a:ext cx="4572000" cy="141732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85431" y="1563624"/>
            <a:ext cx="424281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IN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5431" y="2039112"/>
            <a:ext cx="4242816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Plastic • Paper • Metal • Organic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3154680"/>
            <a:ext cx="4572000" cy="169164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1" y="3300984"/>
            <a:ext cx="424281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CURRENT LIMITATION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5431" y="3776472"/>
            <a:ext cx="4242816" cy="9418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One uploaded image receives one overall class prediction. The system does not identify every material type.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6942"/>
                </a:solidFill>
                <a:latin typeface="Aptos"/>
              </a:rPr>
              <a:t>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DD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77A6F"/>
                </a:solidFill>
                <a:latin typeface="Aptos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60020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63624"/>
            <a:ext cx="309981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039112"/>
            <a:ext cx="3099816" cy="8503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Main programming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417320"/>
            <a:ext cx="3429000" cy="160020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563624"/>
            <a:ext cx="309981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TensorFlow / Keras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039112"/>
            <a:ext cx="3099816" cy="8503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Model development and inference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417320"/>
            <a:ext cx="3429000" cy="160020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2" y="1563624"/>
            <a:ext cx="309981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MobileNetV2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2039112"/>
            <a:ext cx="3099816" cy="8503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Pretrained CNN backbone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3429000" cy="160020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712464"/>
            <a:ext cx="309981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NumPy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187952"/>
            <a:ext cx="3099816" cy="8503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Image arrays and numerical 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566160"/>
            <a:ext cx="3429000" cy="160020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3712464"/>
            <a:ext cx="309981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Pillow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4187952"/>
            <a:ext cx="3099816" cy="8503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Image loading and resizing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566160"/>
            <a:ext cx="3429000" cy="160020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1352" y="3712464"/>
            <a:ext cx="309981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Streamlit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4187952"/>
            <a:ext cx="3099816" cy="8503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Interactive web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6942"/>
                </a:solidFill>
                <a:latin typeface="Aptos"/>
              </a:rPr>
              <a:t>Dataset Preparation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DD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77A6F"/>
                </a:solidFill>
                <a:latin typeface="Aptos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200400" cy="137160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380744"/>
            <a:ext cx="287121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SOURCE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56232"/>
            <a:ext cx="2871216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15,516 images across 12 original folders.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234440"/>
            <a:ext cx="3200400" cy="137160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380744"/>
            <a:ext cx="287121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SELECTED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1856232"/>
            <a:ext cx="2871216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Plastic, Paper, Cardboard, Metal and Biological.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234440"/>
            <a:ext cx="3200400" cy="137160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1380744"/>
            <a:ext cx="287121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EXTRA TRAINING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1856232"/>
            <a:ext cx="2871216" cy="6217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73 Paper images + 25 Organic dry-leaf images.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900" b="1">
                <a:solidFill>
                  <a:srgbClr val="1C2722"/>
                </a:solidFill>
                <a:latin typeface="Aptos"/>
              </a:rPr>
              <a:t>Mapping from source folders to model output: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60120" y="3657600"/>
          <a:ext cx="102412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  <a:gridCol w="2011680"/>
              </a:tblGrid>
              <a:tr h="402336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Source folder(s)</a:t>
                      </a:r>
                    </a:p>
                  </a:txBody>
                  <a:tcPr>
                    <a:solidFill>
                      <a:srgbClr val="1669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Target class</a:t>
                      </a:r>
                    </a:p>
                  </a:txBody>
                  <a:tcPr>
                    <a:solidFill>
                      <a:srgbClr val="1669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1669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722"/>
                          </a:solidFill>
                        </a:rPr>
                        <a:t>plastic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722"/>
                          </a:solidFill>
                        </a:rPr>
                        <a:t>Plastic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722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722"/>
                          </a:solidFill>
                        </a:rPr>
                        <a:t>paper + cardboard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722"/>
                          </a:solidFill>
                        </a:rP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722"/>
                          </a:solidFill>
                        </a:rPr>
                        <a:t>1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722"/>
                          </a:solidFill>
                        </a:rPr>
                        <a:t>metal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722"/>
                          </a:solidFill>
                        </a:rPr>
                        <a:t>Metal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722"/>
                          </a:solidFill>
                        </a:rPr>
                        <a:t>2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722"/>
                          </a:solidFill>
                        </a:rPr>
                        <a:t>biological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722"/>
                          </a:solidFill>
                        </a:rPr>
                        <a:t>Organic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C2722"/>
                          </a:solidFill>
                        </a:rP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6942"/>
                </a:solidFill>
                <a:latin typeface="Aptos"/>
              </a:rPr>
              <a:t>Model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DD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77A6F"/>
                </a:solidFill>
                <a:latin typeface="Aptos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691640" cy="1874519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975104"/>
            <a:ext cx="136245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Input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450592"/>
            <a:ext cx="1362456" cy="11247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224 × 224 RGB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2264" y="2468880"/>
            <a:ext cx="256032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166942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1828800"/>
            <a:ext cx="1691640" cy="1874519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1975104"/>
            <a:ext cx="136245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Augmentation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2450592"/>
            <a:ext cx="1362456" cy="11247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Flip, rotation, zoom, contrast
(training only)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2468880"/>
            <a:ext cx="256032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166942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28800"/>
            <a:ext cx="1691640" cy="1874519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975104"/>
            <a:ext cx="136245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Rescaling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450592"/>
            <a:ext cx="1362456" cy="11247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0–255 to approximately −1 to +1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4184" y="2468880"/>
            <a:ext cx="256032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166942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1828800"/>
            <a:ext cx="1691640" cy="1874519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1" y="1975104"/>
            <a:ext cx="136245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MobileNetV2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1" y="2450592"/>
            <a:ext cx="1362456" cy="11247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ImageNet-pretrained feature extractor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2468880"/>
            <a:ext cx="256032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166942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19" y="1828800"/>
            <a:ext cx="1691640" cy="1874519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1" y="1975104"/>
            <a:ext cx="136245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GAP + Dropout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1" y="2450592"/>
            <a:ext cx="1362456" cy="11247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Feature vector and regularization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76103" y="2468880"/>
            <a:ext cx="256032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166942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0" y="1828800"/>
            <a:ext cx="1691640" cy="1874519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05872" y="1975104"/>
            <a:ext cx="136245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Dense + Softmax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05872" y="2450592"/>
            <a:ext cx="1362456" cy="11247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Four output scores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343400"/>
            <a:ext cx="106070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C2722"/>
                </a:solidFill>
                <a:latin typeface="Aptos"/>
              </a:rPr>
              <a:t>Training strategy: Stage 1 trains the new classification head with the backbone frozen. Stage 2 fine-tunes selected later MobileNetV2 layers while keeping Batch Normalization layers frozen.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6942"/>
                </a:solidFill>
                <a:latin typeface="Aptos"/>
              </a:rPr>
              <a:t>System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DD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77A6F"/>
                </a:solidFill>
                <a:latin typeface="Aptos"/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234440"/>
            <a:ext cx="566928" cy="566928"/>
          </a:xfrm>
          <a:prstGeom prst="ellipse">
            <a:avLst/>
          </a:prstGeom>
          <a:solidFill>
            <a:srgbClr val="16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07592"/>
            <a:ext cx="5669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225296"/>
            <a:ext cx="2468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66942"/>
                </a:solidFill>
                <a:latin typeface="Aptos"/>
              </a:rPr>
              <a:t>Upload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225296"/>
            <a:ext cx="61264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C2722"/>
                </a:solidFill>
                <a:latin typeface="Aptos"/>
              </a:rPr>
              <a:t>JPG / JPEG / PNG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9576" y="1810512"/>
            <a:ext cx="36576" cy="365760"/>
          </a:xfrm>
          <a:prstGeom prst="rect">
            <a:avLst/>
          </a:prstGeom>
          <a:solidFill>
            <a:srgbClr val="DD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194560"/>
            <a:ext cx="566928" cy="566928"/>
          </a:xfrm>
          <a:prstGeom prst="ellipse">
            <a:avLst/>
          </a:prstGeom>
          <a:solidFill>
            <a:srgbClr val="16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67712"/>
            <a:ext cx="5669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185416"/>
            <a:ext cx="2468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66942"/>
                </a:solidFill>
                <a:latin typeface="Aptos"/>
              </a:rPr>
              <a:t>Preprocess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85416"/>
            <a:ext cx="61264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C2722"/>
                </a:solidFill>
                <a:latin typeface="Aptos"/>
              </a:rPr>
              <a:t>RGB, resize to 224 × 224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9576" y="2770632"/>
            <a:ext cx="36576" cy="365760"/>
          </a:xfrm>
          <a:prstGeom prst="rect">
            <a:avLst/>
          </a:prstGeom>
          <a:solidFill>
            <a:srgbClr val="DD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154680"/>
            <a:ext cx="566928" cy="566928"/>
          </a:xfrm>
          <a:prstGeom prst="ellipse">
            <a:avLst/>
          </a:prstGeom>
          <a:solidFill>
            <a:srgbClr val="16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27832"/>
            <a:ext cx="5669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145536"/>
            <a:ext cx="2468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66942"/>
                </a:solidFill>
                <a:latin typeface="Aptos"/>
              </a:rPr>
              <a:t>Predict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145536"/>
            <a:ext cx="61264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C2722"/>
                </a:solidFill>
                <a:latin typeface="Aptos"/>
              </a:rPr>
              <a:t>V4 model returns four scores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79576" y="3730752"/>
            <a:ext cx="36576" cy="365760"/>
          </a:xfrm>
          <a:prstGeom prst="rect">
            <a:avLst/>
          </a:prstGeom>
          <a:solidFill>
            <a:srgbClr val="DD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4114800"/>
            <a:ext cx="566928" cy="566928"/>
          </a:xfrm>
          <a:prstGeom prst="ellipse">
            <a:avLst/>
          </a:prstGeom>
          <a:solidFill>
            <a:srgbClr val="16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87952"/>
            <a:ext cx="5669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105656"/>
            <a:ext cx="2468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66942"/>
                </a:solidFill>
                <a:latin typeface="Aptos"/>
              </a:rPr>
              <a:t>Select 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105656"/>
            <a:ext cx="61264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C2722"/>
                </a:solidFill>
                <a:latin typeface="Aptos"/>
              </a:rPr>
              <a:t>Highest score is selected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79576" y="4690872"/>
            <a:ext cx="36576" cy="365760"/>
          </a:xfrm>
          <a:prstGeom prst="rect">
            <a:avLst/>
          </a:prstGeom>
          <a:solidFill>
            <a:srgbClr val="DD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074920"/>
            <a:ext cx="566928" cy="566928"/>
          </a:xfrm>
          <a:prstGeom prst="ellipse">
            <a:avLst/>
          </a:prstGeom>
          <a:solidFill>
            <a:srgbClr val="16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48072"/>
            <a:ext cx="5669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065776"/>
            <a:ext cx="2468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166942"/>
                </a:solidFill>
                <a:latin typeface="Aptos"/>
              </a:rPr>
              <a:t>Display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065776"/>
            <a:ext cx="61264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C2722"/>
                </a:solidFill>
                <a:latin typeface="Aptos"/>
              </a:rPr>
              <a:t>Category, confidence, advice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6942"/>
                </a:solidFill>
                <a:latin typeface="Aptos"/>
              </a:rPr>
              <a:t>Application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DD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77A6F"/>
                </a:solidFill>
                <a:latin typeface="Aptos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83280" cy="150876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72184"/>
            <a:ext cx="305409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IMAGE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47672"/>
            <a:ext cx="3054096" cy="7589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Upload JPG, JPEG, or PNG waste images.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383280" cy="150876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472184"/>
            <a:ext cx="305409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AI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1947672"/>
            <a:ext cx="3054096" cy="7589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Classifies the image into one of four categories.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383280" cy="150876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472184"/>
            <a:ext cx="305409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CONFIDENCE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947672"/>
            <a:ext cx="3054096" cy="7589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Displays the model's highest softmax score.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3429000"/>
            <a:ext cx="3383280" cy="150876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9192" y="3575304"/>
            <a:ext cx="305409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DISPOSAL GUIDANCE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9192" y="4050791"/>
            <a:ext cx="3054096" cy="7589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Shows general advice for the predicted category.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429000"/>
            <a:ext cx="3383280" cy="150876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3575304"/>
            <a:ext cx="305409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USER-FRIENDLY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4050791"/>
            <a:ext cx="3054096" cy="7589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Built with Streamlit for easy demonstration.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623560"/>
            <a:ext cx="9966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166942"/>
                </a:solidFill>
                <a:latin typeface="Aptos"/>
              </a:rPr>
              <a:t>Live demo: streamlit run app.py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6942"/>
                </a:solidFill>
                <a:latin typeface="Aptos"/>
              </a:rPr>
              <a:t>Testing and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DD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77A6F"/>
                </a:solidFill>
                <a:latin typeface="Aptos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3246120" cy="132588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380744"/>
            <a:ext cx="291693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VALIDATION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856232"/>
            <a:ext cx="2916936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96.53%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234440"/>
            <a:ext cx="3246120" cy="132588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380744"/>
            <a:ext cx="291693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VALIDATION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1856232"/>
            <a:ext cx="2916936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0.0885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234440"/>
            <a:ext cx="3246120" cy="132588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380744"/>
            <a:ext cx="291693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REAL-WORLD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1856232"/>
            <a:ext cx="2916936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24 / 25 correct = 96%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874519" y="2971800"/>
          <a:ext cx="84124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84632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669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Correct</a:t>
                      </a:r>
                    </a:p>
                  </a:txBody>
                  <a:tcPr>
                    <a:solidFill>
                      <a:srgbClr val="1669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6694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C2722"/>
                          </a:solidFill>
                        </a:rPr>
                        <a:t>Plastic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C2722"/>
                          </a:solidFill>
                        </a:rPr>
                        <a:t>6/6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C2722"/>
                          </a:solidFill>
                        </a:rPr>
                        <a:t>100%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C2722"/>
                          </a:solidFill>
                        </a:rP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C2722"/>
                          </a:solidFill>
                        </a:rPr>
                        <a:t>7/7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C2722"/>
                          </a:solidFill>
                        </a:rPr>
                        <a:t>100%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C2722"/>
                          </a:solidFill>
                        </a:rPr>
                        <a:t>Metal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C2722"/>
                          </a:solidFill>
                        </a:rPr>
                        <a:t>6/6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C2722"/>
                          </a:solidFill>
                        </a:rPr>
                        <a:t>100%</a:t>
                      </a:r>
                    </a:p>
                  </a:txBody>
                  <a:tcPr/>
                </a:tc>
              </a:tr>
              <a:tr h="48463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C2722"/>
                          </a:solidFill>
                        </a:rPr>
                        <a:t>Organic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C2722"/>
                          </a:solidFill>
                        </a:rPr>
                        <a:t>5/6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C2722"/>
                          </a:solidFill>
                        </a:rPr>
                        <a:t>83.33%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0">
                <a:solidFill>
                  <a:srgbClr val="677A6F"/>
                </a:solidFill>
                <a:latin typeface="Aptos"/>
              </a:rPr>
              <a:t>Note: Real-world test set contains only 25 images; results are preliminary.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66942"/>
                </a:solidFill>
                <a:latin typeface="Aptos"/>
              </a:rPr>
              <a:t>Limitations and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1109960" cy="32004"/>
          </a:xfrm>
          <a:prstGeom prst="rect">
            <a:avLst/>
          </a:prstGeom>
          <a:solidFill>
            <a:srgbClr val="DD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510528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0">
                <a:solidFill>
                  <a:srgbClr val="677A6F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361188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72184"/>
            <a:ext cx="483717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47672"/>
            <a:ext cx="4837176" cy="2862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• Only four broad waste categories
• Sensitive to lighting, background and image quality
• One class prediction per image
• Small independent test set (25 images)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3611880"/>
          </a:xfrm>
          <a:prstGeom prst="roundRect">
            <a:avLst/>
          </a:prstGeom>
          <a:solidFill>
            <a:srgbClr val="EFF7F2"/>
          </a:solidFill>
          <a:ln>
            <a:solidFill>
              <a:srgbClr val="DDE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1472184"/>
            <a:ext cx="4837176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66942"/>
                </a:solidFill>
                <a:latin typeface="Aptos"/>
              </a:rPr>
              <a:t>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1947672"/>
            <a:ext cx="4837176" cy="2862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2722"/>
                </a:solidFill>
                <a:latin typeface="Aptos"/>
              </a:rPr>
              <a:t>• Expand and balance the dataset
• Test on a larger independent dataset
• Add more waste categories
• Explore object detection for multiple items
• Add verified local disposal information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800" b="1">
                <a:solidFill>
                  <a:srgbClr val="166942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996696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500" b="1">
                <a:solidFill>
                  <a:srgbClr val="1C2722"/>
                </a:solidFill>
                <a:latin typeface="Aptos"/>
              </a:rPr>
              <a:t>The project demonstrates a working AI-based prototype for classifying waste images into four categories.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154680"/>
            <a:ext cx="9875520" cy="2103120"/>
          </a:xfrm>
          <a:prstGeom prst="rect">
            <a:avLst/>
          </a:prstGeom>
          <a:noFill/>
        </p:spPr>
        <p:txBody>
          <a:bodyPr wrap="square" lIns="73152" rIns="45720" bIns="27432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1C2722"/>
                </a:solidFill>
                <a:latin typeface="Aptos"/>
              </a:defRPr>
            </a:pPr>
            <a:r>
              <a:t>•  MobileNetV2 transfer learning powers the classifier.</a:t>
            </a:r>
          </a:p>
          <a:p>
            <a:pPr>
              <a:spcAft>
                <a:spcPts val="1600"/>
              </a:spcAft>
              <a:defRPr sz="1900">
                <a:solidFill>
                  <a:srgbClr val="1C2722"/>
                </a:solidFill>
                <a:latin typeface="Aptos"/>
              </a:defRPr>
            </a:pPr>
            <a:r>
              <a:t>•  Streamlit provides an easy-to-use interface.</a:t>
            </a:r>
          </a:p>
          <a:p>
            <a:pPr>
              <a:spcAft>
                <a:spcPts val="1600"/>
              </a:spcAft>
              <a:defRPr sz="1900">
                <a:solidFill>
                  <a:srgbClr val="1C2722"/>
                </a:solidFill>
                <a:latin typeface="Aptos"/>
              </a:defRPr>
            </a:pPr>
            <a:r>
              <a:t>•  V4 achieved 96.53% validation accuracy and 96% on the 25-image real-world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9788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>
                <a:solidFill>
                  <a:srgbClr val="677A6F"/>
                </a:solidFill>
                <a:latin typeface="Aptos"/>
              </a:rPr>
              <a:t>The prototype is promising, with further testing needed for real-world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6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300" b="0">
                <a:solidFill>
                  <a:srgbClr val="DDEDE2"/>
                </a:solidFill>
                <a:latin typeface="Aptos"/>
              </a:rP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Smart Waste Classification System  •  Mayank Chaudhuri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